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Durable Functions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Dev
Experience</c:v>
                </c:pt>
                <c:pt idx="1">
                  <c:v>Human-in-
Loop Support</c:v>
                </c:pt>
                <c:pt idx="2">
                  <c:v>Debugging &amp;
Observability</c:v>
                </c:pt>
                <c:pt idx="3">
                  <c:v>Build
Reliability</c:v>
                </c:pt>
                <c:pt idx="4">
                  <c:v>Native Azure
Integration</c:v>
                </c:pt>
                <c:pt idx="5">
                  <c:v>Low-Code
Approachability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84-4DD1-9475-1588CCA0FD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Logic Apps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Dev
Experience</c:v>
                </c:pt>
                <c:pt idx="1">
                  <c:v>Human-in-
Loop Support</c:v>
                </c:pt>
                <c:pt idx="2">
                  <c:v>Debugging &amp;
Observability</c:v>
                </c:pt>
                <c:pt idx="3">
                  <c:v>Build
Reliability</c:v>
                </c:pt>
                <c:pt idx="4">
                  <c:v>Native Azure
Integration</c:v>
                </c:pt>
                <c:pt idx="5">
                  <c:v>Low-Code
Approachability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84-4DD1-9475-1588CCA0FD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4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7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390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3FA796">
              <a:alpha val="18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SERVERLESS APPLICATIONS · FINAL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Expense Approval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Functions vs. Logic Apps: A Head-to-Head Build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2194560" cy="0"/>
          </a:xfrm>
          <a:prstGeom prst="line">
            <a:avLst/>
          </a:prstGeom>
          <a:noFill/>
          <a:ln w="31750">
            <a:solidFill>
              <a:srgbClr val="3FA79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0292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de Haan Carrière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427939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implementations of the same business workflow, built, broken,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tested end-to-end — then compared on six real dimensions.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Expense Approval Workflow — Final Project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 &amp; Business Rules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expense-approval process, two Azure orchestration platforms — both must satisfy the same rules.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457200" cy="457200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4712" y="20756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4712" y="235000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present and category is one of the allowed set.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0723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0292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4712" y="3044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4712" y="33192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under $100 are approved automatically — no human step.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416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0292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24712" y="40142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24712" y="428853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≥ $100 wait for a manager decision: approve or reject.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5010912"/>
            <a:ext cx="457200" cy="457200"/>
          </a:xfrm>
          <a:prstGeom prst="ellipse">
            <a:avLst/>
          </a:prstGeom>
          <a:solidFill>
            <a:srgbClr val="C9622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502920" y="5010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4712" y="4983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4712" y="525780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manager response before the timeout → auto-escalated.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37960" y="1481328"/>
            <a:ext cx="5148072" cy="4709160"/>
          </a:xfrm>
          <a:prstGeom prst="roundRect">
            <a:avLst>
              <a:gd name="adj" fmla="val 2330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6858000" y="1691640"/>
            <a:ext cx="4507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TEST SCENARIOS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0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6858000" y="21488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87768" y="2139696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$100 → auto-approved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2743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6858000" y="2743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87768" y="2734056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$100 → manager approves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3337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6858000" y="3337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87768" y="3328416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$100 → manager rejects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39319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6858000" y="3931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87768" y="3922776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$100 → no response → escalated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4526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6858000" y="4526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87768" y="4517136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 → rejected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58000" y="51206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6858000" y="5120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87768" y="5111496"/>
            <a:ext cx="4050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category → rejected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Expense Approval Workflow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VERSION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 Functions: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azure-functions-durable, one deployable Function 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765792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765792" y="4572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PLATFORM-NATIVE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EAF3F7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trigger (client) — starts orchestration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5420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DCEAEF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85800" y="27249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— coordinates the whole workflow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32735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45643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EAF3F7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85800" y="345643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validate_expense (activity)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400507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18795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DCEAEF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85800" y="418795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process_auto_approval (activity)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47365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91947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EAF3F7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85800" y="491947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context.create_timer()  +  wait_for_external_event()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54681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565099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DCEAEF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685800" y="565099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send_notification (activity) — logs the outcome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1993392"/>
            <a:ext cx="5148072" cy="4224528"/>
          </a:xfrm>
          <a:prstGeom prst="roundRect">
            <a:avLst>
              <a:gd name="adj" fmla="val 259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6830568" y="2194560"/>
            <a:ext cx="4562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BUILT THIS WAY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30568" y="2660904"/>
            <a:ext cx="82296" cy="82296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7040880" y="2542032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Task.any([timer, event]) races a timeout against a human decision — native to the platform.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30568" y="3227832"/>
            <a:ext cx="82296" cy="82296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7040880" y="3108960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code is deterministic Python — replay-safe, testable like any function.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30568" y="3794760"/>
            <a:ext cx="82296" cy="82296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040880" y="3675888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endpoint (manager_decision) raises the event by instance_id.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30568" y="4361688"/>
            <a:ext cx="82296" cy="82296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7040880" y="4242816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“email” is simulated via logging.info() — no real message is sent, a known gap.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Expense Approval Workflow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VERSION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 Functions: Demo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scenarios run locally against func start + Azurite, verified via the statusQueryGetUri.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BF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PASSING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4297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bugs found &amp; fixed along the way: 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77640" y="2011680"/>
            <a:ext cx="7708392" cy="566928"/>
          </a:xfrm>
          <a:prstGeom prst="roundRect">
            <a:avLst>
              <a:gd name="adj" fmla="val 9677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114800" y="201168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2011680"/>
            <a:ext cx="5330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$100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48672" y="2112264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9948672" y="211226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704320" y="2011680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977640" y="2670048"/>
            <a:ext cx="77083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114800" y="267004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2670048"/>
            <a:ext cx="5330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$100, manager approves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48672" y="277063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9948672" y="27706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704320" y="2670048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977640" y="3328416"/>
            <a:ext cx="7708392" cy="566928"/>
          </a:xfrm>
          <a:prstGeom prst="roundRect">
            <a:avLst>
              <a:gd name="adj" fmla="val 9677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4114800" y="332841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328416"/>
            <a:ext cx="5330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$100, manager rejects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48672" y="3429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9622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948672" y="3429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704320" y="3328416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977640" y="3986784"/>
            <a:ext cx="77083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4114800" y="398678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26280" y="3986784"/>
            <a:ext cx="5330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$100, no response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948672" y="408736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9622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9948672" y="4087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(timer)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704320" y="3986784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977640" y="4645152"/>
            <a:ext cx="7708392" cy="566928"/>
          </a:xfrm>
          <a:prstGeom prst="roundRect">
            <a:avLst>
              <a:gd name="adj" fmla="val 9677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4114800" y="464515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26280" y="4645152"/>
            <a:ext cx="5330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948672" y="474573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5B6B7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9948672" y="47457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704320" y="4645152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977640" y="5303520"/>
            <a:ext cx="77083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4114800" y="53035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26280" y="5303520"/>
            <a:ext cx="5330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category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948672" y="5404104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5B6B7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9948672" y="540410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704320" y="5303520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Expense Approval Workflow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VERSION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Apps: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Logic App + Service Bus + one validation Function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765792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9765792" y="4572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/ VISUAL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EAF3F7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queue: expense-requests (trigger)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5420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DCEAEF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85800" y="27249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Parse_Incoming_Expense  +  Call_Validation_Function (HTTP)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32735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45643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EAF3F7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85800" y="345643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Check_If_Valid → Check_Amount_under_100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400507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18795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DCEAEF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85800" y="418795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Create_Pending_Decision_Record  +  Send_Manager_Approval_Email (Outlook)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47365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91947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EAF3F7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85800" y="491947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/ Until loop: Wait → Get_Current_Decision → Set_Decision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54681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565099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DCEAEF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685800" y="565099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topic: expense-outcomes → 3 filtered subscriptions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1993392"/>
            <a:ext cx="5148072" cy="4224528"/>
          </a:xfrm>
          <a:prstGeom prst="roundRect">
            <a:avLst>
              <a:gd name="adj" fmla="val 259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6830568" y="2194560"/>
            <a:ext cx="4562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BUILT THIS WAY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30568" y="2660904"/>
            <a:ext cx="82296" cy="82296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7040880" y="2542032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“wait for event” action — an Until loop polls Table Storage instead.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30568" y="3227832"/>
            <a:ext cx="82296" cy="82296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7040880" y="3108960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Logic App only: the “manager” edits the pending row directly (documented trade-off).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30568" y="3794760"/>
            <a:ext cx="82296" cy="82296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040880" y="3675888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gets a real Outlook email; the outcome to the employee is only a topic message — no final send-email step, a known gap matching Version A's.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30568" y="4361688"/>
            <a:ext cx="82296" cy="82296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7040880" y="4242816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filters on the topic subscriptions route by an outcome custom property.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Expense Approval Workflow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VERSION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Apps: Demo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scenarios run against live Azure resources, verified via Run History and Service Bus Explorer.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D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PASSING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4297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+ platform bugs found &amp; fixed: 9+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77640" y="2011680"/>
            <a:ext cx="7708392" cy="566928"/>
          </a:xfrm>
          <a:prstGeom prst="roundRect">
            <a:avLst>
              <a:gd name="adj" fmla="val 9677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114800" y="201168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2011680"/>
            <a:ext cx="5330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$100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57232" y="2112264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9857232" y="21122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795760" y="2011680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977640" y="2670048"/>
            <a:ext cx="77083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114800" y="267004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2670048"/>
            <a:ext cx="5330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$100, manager approves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57232" y="2770632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9857232" y="27706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795760" y="2670048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977640" y="3328416"/>
            <a:ext cx="7708392" cy="566928"/>
          </a:xfrm>
          <a:prstGeom prst="roundRect">
            <a:avLst>
              <a:gd name="adj" fmla="val 9677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4114800" y="332841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328416"/>
            <a:ext cx="5330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$100, manager rejects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857232" y="342900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C9622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857232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795760" y="3328416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977640" y="3986784"/>
            <a:ext cx="77083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4114800" y="398678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26280" y="3986784"/>
            <a:ext cx="5330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$100, no response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857232" y="4087368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C9622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9857232" y="40873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(Until limit)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795760" y="3986784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977640" y="4645152"/>
            <a:ext cx="7708392" cy="566928"/>
          </a:xfrm>
          <a:prstGeom prst="roundRect">
            <a:avLst>
              <a:gd name="adj" fmla="val 9677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4114800" y="464515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26280" y="4645152"/>
            <a:ext cx="5330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857232" y="4745736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5B6B7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9857232" y="47457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795760" y="4645152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977640" y="5303520"/>
            <a:ext cx="77083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4114800" y="53035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26280" y="5303520"/>
            <a:ext cx="5330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category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857232" y="5404104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5B6B7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9857232" y="54041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795760" y="5303520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Expense Approval Workflow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Scored 1–5, By Dimension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Self-assessed after building and testing both versions end-to-end — 5 = strongest.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965960"/>
          <a:ext cx="1118311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Expense Approval Workflow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RECOMMENDATION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120640" cy="4617720"/>
          </a:xfrm>
          <a:prstGeom prst="roundRect">
            <a:avLst>
              <a:gd name="adj" fmla="val 2376"/>
            </a:avLst>
          </a:prstGeom>
          <a:solidFill>
            <a:srgbClr val="1A2050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WORKFLOW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Durable Functions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77240" y="2788920"/>
            <a:ext cx="292608" cy="292608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2" dirty="0"/>
          </a:p>
        </p:txBody>
      </p:sp>
      <p:sp>
        <p:nvSpPr>
          <p:cNvPr id="10" name="Text 8"/>
          <p:cNvSpPr/>
          <p:nvPr/>
        </p:nvSpPr>
        <p:spPr>
          <a:xfrm>
            <a:off x="1216152" y="273405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requirement — wait for a human OR a timeout — is native to the platform, not simulated.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749040"/>
            <a:ext cx="292608" cy="292608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2" dirty="0"/>
          </a:p>
        </p:txBody>
      </p:sp>
      <p:sp>
        <p:nvSpPr>
          <p:cNvPr id="13" name="Text 11"/>
          <p:cNvSpPr/>
          <p:nvPr/>
        </p:nvSpPr>
        <p:spPr>
          <a:xfrm>
            <a:off x="1216152" y="369417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task_any() gives an unambiguous result; Logic Apps needed extra branching to recover the same information from a poll loop.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4709160"/>
            <a:ext cx="292608" cy="292608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2" dirty="0"/>
          </a:p>
        </p:txBody>
      </p:sp>
      <p:sp>
        <p:nvSpPr>
          <p:cNvPr id="16" name="Text 14"/>
          <p:cNvSpPr/>
          <p:nvPr/>
        </p:nvSpPr>
        <p:spPr>
          <a:xfrm>
            <a:off x="1216152" y="465429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was faster and more trustworthy: real tracebacks vs. a portal that repeatedly showed stale run state.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52160" y="1618488"/>
            <a:ext cx="5696712" cy="4617720"/>
          </a:xfrm>
          <a:prstGeom prst="roundRect">
            <a:avLst>
              <a:gd name="adj" fmla="val 2376"/>
            </a:avLst>
          </a:prstGeom>
          <a:solidFill>
            <a:srgbClr val="13193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263640" y="18105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LOGIC APPS WINS INSTEAD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2402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263640" y="2240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32" dirty="0"/>
          </a:p>
        </p:txBody>
      </p:sp>
      <p:sp>
        <p:nvSpPr>
          <p:cNvPr id="21" name="Text 19"/>
          <p:cNvSpPr/>
          <p:nvPr/>
        </p:nvSpPr>
        <p:spPr>
          <a:xfrm>
            <a:off x="6702552" y="218541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is integration-heavy — many native SaaS/Azure connectors, little custom logic.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04495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6263640" y="3044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32" dirty="0"/>
          </a:p>
        </p:txBody>
      </p:sp>
      <p:sp>
        <p:nvSpPr>
          <p:cNvPr id="24" name="Text 22"/>
          <p:cNvSpPr/>
          <p:nvPr/>
        </p:nvSpPr>
        <p:spPr>
          <a:xfrm>
            <a:off x="6702552" y="299008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or ops staff need to read or adjust the flow without a developer.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396617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263640" y="39587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32" dirty="0"/>
          </a:p>
        </p:txBody>
      </p:sp>
      <p:sp>
        <p:nvSpPr>
          <p:cNvPr id="27" name="Text 25"/>
          <p:cNvSpPr/>
          <p:nvPr/>
        </p:nvSpPr>
        <p:spPr>
          <a:xfrm>
            <a:off x="6702552" y="3794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audit trail (the designer canvas itself) matters as much as the code.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4654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6702552" y="459943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5650992"/>
            <a:ext cx="516636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6263640" y="5760720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is workload-specific, as both platforms shipped a working system.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Expense Approval Workflow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LESSONS LEARNED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Surprised 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987552"/>
          </a:xfrm>
          <a:prstGeom prst="roundRect">
            <a:avLst>
              <a:gd name="adj" fmla="val 9259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40664" y="1819656"/>
            <a:ext cx="548640" cy="548640"/>
          </a:xfrm>
          <a:prstGeom prst="ellipse">
            <a:avLst/>
          </a:prstGeom>
          <a:solidFill>
            <a:srgbClr val="C9622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40664" y="18196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490472" y="1691640"/>
            <a:ext cx="9902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bugs, not just logic bugs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90472" y="2002536"/>
            <a:ext cx="99029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Apps' designer silently dropped an “@” expression prefix on save — the UI showed it correctly, the underlying JSON didn't have it. Fixed only by editing raw Code view.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02920" y="2734056"/>
            <a:ext cx="11183112" cy="987552"/>
          </a:xfrm>
          <a:prstGeom prst="roundRect">
            <a:avLst>
              <a:gd name="adj" fmla="val 9259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740664" y="2953512"/>
            <a:ext cx="548640" cy="548640"/>
          </a:xfrm>
          <a:prstGeom prst="ellipse">
            <a:avLst/>
          </a:prstGeom>
          <a:solidFill>
            <a:srgbClr val="C9622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740664" y="2953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1490472" y="2825496"/>
            <a:ext cx="9902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itself was an unreliable narrator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90472" y="3136392"/>
            <a:ext cx="99029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 repeatedly showed “in progress” on runs that the REST API confirmed had already Succeeded minutes earlier — CLI checks became the source of truth.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3867912"/>
            <a:ext cx="11183112" cy="987552"/>
          </a:xfrm>
          <a:prstGeom prst="roundRect">
            <a:avLst>
              <a:gd name="adj" fmla="val 9259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740664" y="40873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740664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490472" y="3959352"/>
            <a:ext cx="9902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polling loses information Durable Functions gives for free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90472" y="4270248"/>
            <a:ext cx="99029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task_any() tells us why it stopped. An Until loop only gives a final value — recovering “approved vs. rejected vs. timed out” needed a second nested Condition.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40664" y="5221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Expense Approval Workflow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LESSONS LEARNED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Do Differently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58952" y="19476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5895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99032" y="1911096"/>
            <a:ext cx="4265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CLI from the start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587752"/>
            <a:ext cx="48234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rest against the Logic App runs API would have saved multiple rounds of chasing a portal display bug that looked like a stuck workflow.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7356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533388" y="19476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533388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73468" y="1911096"/>
            <a:ext cx="4265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the test-time timeout up front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69964" y="2587752"/>
            <a:ext cx="48234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20-second poll against a 2-minute Until limit left almost no margin for manually editing Table Storage in time — a longer window during testing, tightened before submission, would remove the race entirely.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7258" y="4078224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DCEAEF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15" name="Shape 13"/>
          <p:cNvSpPr/>
          <p:nvPr/>
        </p:nvSpPr>
        <p:spPr>
          <a:xfrm>
            <a:off x="3463290" y="43342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46329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03370" y="4297680"/>
            <a:ext cx="4265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the plain HTTP action sooner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99866" y="4974336"/>
            <a:ext cx="48234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attempts were spent getting the native Functions connector to accept a custom-routed function before switching to a plain HTTP call — the simpler path that worked immediately.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3388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3468" y="4242816"/>
            <a:ext cx="4265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69964" y="4919472"/>
            <a:ext cx="48234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Expense Approval Workflow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3FA796">
              <a:alpha val="1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versions work.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comes down to how much orchestration control your team needs - versus how much of the plumbing you want a platform to perform for you.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297680"/>
            <a:ext cx="2194560" cy="0"/>
          </a:xfrm>
          <a:prstGeom prst="line">
            <a:avLst/>
          </a:prstGeom>
          <a:noFill/>
          <a:ln w="31750">
            <a:solidFill>
              <a:srgbClr val="3FA79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— Expense Approval Workflow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1228</Words>
  <Application>Microsoft Office PowerPoint</Application>
  <PresentationFormat>Widescreen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Thomas de Haan Carriere</cp:lastModifiedBy>
  <cp:revision>2</cp:revision>
  <dcterms:created xsi:type="dcterms:W3CDTF">2026-08-11T03:53:55Z</dcterms:created>
  <dcterms:modified xsi:type="dcterms:W3CDTF">2026-08-11T05:46:39Z</dcterms:modified>
</cp:coreProperties>
</file>